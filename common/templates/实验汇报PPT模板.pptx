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3bbc52b2f04299" /><Relationship Type="http://schemas.openxmlformats.org/officeDocument/2006/relationships/extended-properties" Target="/docProps/app.xml" Id="R5e2ea4a2377247d1" /><Relationship Type="http://schemas.openxmlformats.org/officeDocument/2006/relationships/officeDocument" Target="/ppt/presentation.xml" Id="Rcd522cdaf22b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daf27ad7944681"/>
  </p:sldMasterIdLst>
  <p:notesMasterIdLst>
    <p:notesMasterId xmlns:r="http://schemas.openxmlformats.org/officeDocument/2006/relationships" r:id="Rb75abfb29dbb430e"/>
  </p:notesMasterIdLst>
  <p:sldIdLst>
    <p:sldId xmlns:r="http://schemas.openxmlformats.org/officeDocument/2006/relationships" id="256" r:id="R076cd420bb0b4d3b"/>
    <p:sldId xmlns:r="http://schemas.openxmlformats.org/officeDocument/2006/relationships" id="257" r:id="Ra2c165d31bfc4f29"/>
    <p:sldId xmlns:r="http://schemas.openxmlformats.org/officeDocument/2006/relationships" id="258" r:id="Rc16b21b21369431a"/>
    <p:sldId xmlns:r="http://schemas.openxmlformats.org/officeDocument/2006/relationships" id="259" r:id="Rb5ad916aa1044f32"/>
    <p:sldId xmlns:r="http://schemas.openxmlformats.org/officeDocument/2006/relationships" id="260" r:id="R94d7bc23ba224867"/>
    <p:sldId xmlns:r="http://schemas.openxmlformats.org/officeDocument/2006/relationships" id="261" r:id="R4412be5e96a54ca2"/>
    <p:sldId xmlns:r="http://schemas.openxmlformats.org/officeDocument/2006/relationships" id="262" r:id="R5aa5cfe7b5694269"/>
    <p:sldId xmlns:r="http://schemas.openxmlformats.org/officeDocument/2006/relationships" id="263" r:id="R31bad4f94bc9486f"/>
    <p:sldId xmlns:r="http://schemas.openxmlformats.org/officeDocument/2006/relationships" id="264" r:id="R39b936a156854cc5"/>
    <p:sldId xmlns:r="http://schemas.openxmlformats.org/officeDocument/2006/relationships" id="265" r:id="R84b367c26a6546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76fbf73c941e3" /><Relationship Type="http://schemas.openxmlformats.org/officeDocument/2006/relationships/slideMaster" Target="/ppt/slideMasters/slideMaster1.xml" Id="Recdaf27ad7944681" /><Relationship Type="http://schemas.openxmlformats.org/officeDocument/2006/relationships/notesMaster" Target="/ppt/notesMasters/notesMaster1.xml" Id="Rb75abfb29dbb430e" /><Relationship Type="http://schemas.openxmlformats.org/officeDocument/2006/relationships/presProps" Target="/ppt/presProps.xml" Id="Raa0acce019dd4f79" /><Relationship Type="http://schemas.openxmlformats.org/officeDocument/2006/relationships/tableStyles" Target="/ppt/tableStyles.xml" Id="R76ad7a0e2ac74055" /><Relationship Type="http://schemas.openxmlformats.org/officeDocument/2006/relationships/slide" Target="/ppt/slides/slide1.xml" Id="R076cd420bb0b4d3b" /><Relationship Type="http://schemas.openxmlformats.org/officeDocument/2006/relationships/slide" Target="/ppt/slides/slide2.xml" Id="Ra2c165d31bfc4f29" /><Relationship Type="http://schemas.openxmlformats.org/officeDocument/2006/relationships/slide" Target="/ppt/slides/slide3.xml" Id="Rc16b21b21369431a" /><Relationship Type="http://schemas.openxmlformats.org/officeDocument/2006/relationships/slide" Target="/ppt/slides/slide4.xml" Id="Rb5ad916aa1044f32" /><Relationship Type="http://schemas.openxmlformats.org/officeDocument/2006/relationships/slide" Target="/ppt/slides/slide5.xml" Id="R94d7bc23ba224867" /><Relationship Type="http://schemas.openxmlformats.org/officeDocument/2006/relationships/slide" Target="/ppt/slides/slide6.xml" Id="R4412be5e96a54ca2" /><Relationship Type="http://schemas.openxmlformats.org/officeDocument/2006/relationships/slide" Target="/ppt/slides/slide7.xml" Id="R5aa5cfe7b5694269" /><Relationship Type="http://schemas.openxmlformats.org/officeDocument/2006/relationships/slide" Target="/ppt/slides/slide8.xml" Id="R31bad4f94bc9486f" /><Relationship Type="http://schemas.openxmlformats.org/officeDocument/2006/relationships/slide" Target="/ppt/slides/slide9.xml" Id="R39b936a156854cc5" /><Relationship Type="http://schemas.openxmlformats.org/officeDocument/2006/relationships/slide" Target="/ppt/slides/slide10.xml" Id="R84b367c26a6546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83dff8cef41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6df8eeb2034abd" /><Relationship Type="http://schemas.openxmlformats.org/officeDocument/2006/relationships/notesMaster" Target="/ppt/notesMasters/notesMaster1.xml" Id="R19a1ef78009845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15f5ab4d094784" /><Relationship Type="http://schemas.openxmlformats.org/officeDocument/2006/relationships/notesMaster" Target="/ppt/notesMasters/notesMaster1.xml" Id="R3eae8d9050de41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898ca58328451e" /><Relationship Type="http://schemas.openxmlformats.org/officeDocument/2006/relationships/notesMaster" Target="/ppt/notesMasters/notesMaster1.xml" Id="R38ea2a82fd8b46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6a66ff3e964185" /><Relationship Type="http://schemas.openxmlformats.org/officeDocument/2006/relationships/notesMaster" Target="/ppt/notesMasters/notesMaster1.xml" Id="R219e342e17a849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9c5be773942f4" /><Relationship Type="http://schemas.openxmlformats.org/officeDocument/2006/relationships/notesMaster" Target="/ppt/notesMasters/notesMaster1.xml" Id="R9bf4ac78dcf7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e970202ba54914" /><Relationship Type="http://schemas.openxmlformats.org/officeDocument/2006/relationships/notesMaster" Target="/ppt/notesMasters/notesMaster1.xml" Id="Rea79b4e523bf42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f3dd7c5e304cbb" /><Relationship Type="http://schemas.openxmlformats.org/officeDocument/2006/relationships/notesMaster" Target="/ppt/notesMasters/notesMaster1.xml" Id="Ra39e22d0e9c841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57d75b9ad14c71" /><Relationship Type="http://schemas.openxmlformats.org/officeDocument/2006/relationships/notesMaster" Target="/ppt/notesMasters/notesMaster1.xml" Id="R86f91fdd877c4e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f701d3b5034d2a" /><Relationship Type="http://schemas.openxmlformats.org/officeDocument/2006/relationships/notesMaster" Target="/ppt/notesMasters/notesMaster1.xml" Id="R2521bd3a7bec49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41384bce9c4a33" /><Relationship Type="http://schemas.openxmlformats.org/officeDocument/2006/relationships/notesMaster" Target="/ppt/notesMasters/notesMaster1.xml" Id="R0db270c11dca45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0c82e9d6f4b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c5e95f6feb4837" /><Relationship Type="http://schemas.openxmlformats.org/officeDocument/2006/relationships/slideLayout" Target="/ppt/slideLayouts/slideLayout1.xml" Id="Rbb6d369d29fa49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6d369d29fa49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7d89d220e4d1a" /><Relationship Type="http://schemas.openxmlformats.org/officeDocument/2006/relationships/image" Target="/ppt/media/image.png" Id="Rdbd4da28856f4052" /><Relationship Type="http://schemas.openxmlformats.org/officeDocument/2006/relationships/notesSlide" Target="/ppt/notesSlides/notesSlide1.xml" Id="Rca90b5de3bf542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a811e4c854e43" /><Relationship Type="http://schemas.openxmlformats.org/officeDocument/2006/relationships/notesSlide" Target="/ppt/notesSlides/notesSlide2.xml" Id="R16f434d7685648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6a3357bb644f4" /><Relationship Type="http://schemas.openxmlformats.org/officeDocument/2006/relationships/notesSlide" Target="/ppt/notesSlides/notesSlide3.xml" Id="Rcbf90bb5cf4040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0fcc618664f74" /><Relationship Type="http://schemas.openxmlformats.org/officeDocument/2006/relationships/notesSlide" Target="/ppt/notesSlides/notesSlide4.xml" Id="Re4f74f544b774e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cc3cf55954095" /><Relationship Type="http://schemas.openxmlformats.org/officeDocument/2006/relationships/notesSlide" Target="/ppt/notesSlides/notesSlide5.xml" Id="R5f5a24f2470245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bca6e89ad46dc" /><Relationship Type="http://schemas.openxmlformats.org/officeDocument/2006/relationships/notesSlide" Target="/ppt/notesSlides/notesSlide6.xml" Id="R73bafa8e781747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168143a134c3e" /><Relationship Type="http://schemas.openxmlformats.org/officeDocument/2006/relationships/notesSlide" Target="/ppt/notesSlides/notesSlide7.xml" Id="Rc5e6d50f26b84b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91a5f94d94929" /><Relationship Type="http://schemas.openxmlformats.org/officeDocument/2006/relationships/notesSlide" Target="/ppt/notesSlides/notesSlide8.xml" Id="R0141ade153574d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d0d175d1f47c6" /><Relationship Type="http://schemas.openxmlformats.org/officeDocument/2006/relationships/notesSlide" Target="/ppt/notesSlides/notesSlide9.xml" Id="R8f77b8f5353844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8d325fc994b96" /><Relationship Type="http://schemas.openxmlformats.org/officeDocument/2006/relationships/notesSlide" Target="/ppt/notesSlides/notesSlide10.xml" Id="Re2dc432cd6a74b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4da28856f4052"/>
          <a:stretch xmlns:a="http://schemas.openxmlformats.org/drawingml/2006/main"/>
        </p:blipFill>
        <p:spPr>
          <a:xfrm xmlns:a="http://schemas.openxmlformats.org/drawingml/2006/main">
            <a:off x="590550" y="419175"/>
            <a:ext cx="3143250" cy="838050"/>
          </a:xfrm>
          <a:prstGeom xmlns:a="http://schemas.openxmlformats.org/drawingml/2006/main" prst="rect">
            <a:avLst/>
          </a:prstGeom>
        </p:spPr>
      </p:pic>
      <p:sp>
        <p:nvSpPr>
          <p:cNvPr id="2" name="partner">
            <a:extLst xmlns:a="http://schemas.openxmlformats.org/drawingml/2006/main">
              <a:ext uri="{FF2B5EF4-FFF2-40B4-BE49-F238E27FC236}">
                <a16:creationId xmlns:a16="http://schemas.microsoft.com/office/drawing/2014/main" id="{F377DF67-8E28-4561-BBE3-B5C4155D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南京航空航天大学  ×  南京翼辉信息技术有限公司</a:t>
            </a:r>
          </a:p>
        </p:txBody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83D827B-7DA1-47C1-A441-604318D8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项目制实习实验汇报模板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13413C-301A-4E89-A16E-3333AD56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819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[实验编号] [实验名称]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4C4F5BA-009F-453B-8B5C-26710381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适用于 MQTT-VSOA 协议桥接、LoRa/LoRaWAN、ZigBee 课程实验</a:t>
            </a:r>
          </a:p>
        </p:txBody>
      </p:sp>
      <p:sp>
        <p:nvSpPr>
          <p:cNvPr id="6" name="meta-panel">
            <a:extLst xmlns:a="http://schemas.openxmlformats.org/drawingml/2006/main">
              <a:ext uri="{FF2B5EF4-FFF2-40B4-BE49-F238E27FC236}">
                <a16:creationId xmlns:a16="http://schemas.microsoft.com/office/drawing/2014/main" id="{8F7956A6-3B0D-48FA-968F-1CFE46A7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meta">
            <a:extLst xmlns:a="http://schemas.openxmlformats.org/drawingml/2006/main">
              <a:ext uri="{FF2B5EF4-FFF2-40B4-BE49-F238E27FC236}">
                <a16:creationId xmlns:a16="http://schemas.microsoft.com/office/drawing/2014/main" id="{819A83ED-8555-44D8-AA8D-8191193C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负责人：[姓名]    协作人：[姓名]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项目：物联网传输协议桥接组件开发    日期：[YYYY-MM-DD]</a:t>
            </a:r>
          </a:p>
        </p:txBody>
      </p:sp>
      <p:sp>
        <p:nvSpPr>
          <p:cNvPr id="8" name="right-block">
            <a:extLst xmlns:a="http://schemas.openxmlformats.org/drawingml/2006/main">
              <a:ext uri="{FF2B5EF4-FFF2-40B4-BE49-F238E27FC236}">
                <a16:creationId xmlns:a16="http://schemas.microsoft.com/office/drawing/2014/main" id="{56148E0F-3835-4AE5-9169-4047BBC5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6750"/>
            <a:ext cx="2381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ight-text">
            <a:extLst xmlns:a="http://schemas.openxmlformats.org/drawingml/2006/main">
              <a:ext uri="{FF2B5EF4-FFF2-40B4-BE49-F238E27FC236}">
                <a16:creationId xmlns:a16="http://schemas.microsoft.com/office/drawing/2014/main" id="{B91882FA-E55E-42BB-B126-154F912E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NUAA</a:t>
            </a:r>
          </a:p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ACOINFO</a:t>
            </a:r>
          </a:p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Project Internship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46F5CBA-AB0B-4CD0-9EDB-42746D31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70EBE1E-D858-4411-9FF1-2C548CFA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12" name="footer-no">
            <a:extLst xmlns:a="http://schemas.openxmlformats.org/drawingml/2006/main">
              <a:ext uri="{FF2B5EF4-FFF2-40B4-BE49-F238E27FC236}">
                <a16:creationId xmlns:a16="http://schemas.microsoft.com/office/drawing/2014/main" id="{D3237D69-47E9-4C78-9759-C55F3712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1582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AE2CCA99-17B5-456A-A20C-CC6967B6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5609BF-D737-4850-A03F-B4ED9A23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先说明实验为什么值得做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1DD1BB32-74AF-47D0-9FED-9183B4ED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把实验背景和学习目标讲清楚，听众才能理解后面的步骤和测试结果。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53982575-AD41-4F6F-980A-5319A01C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191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52C15D69-B555-49C8-8DDC-CA5ACEC1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text-0">
            <a:extLst xmlns:a="http://schemas.openxmlformats.org/drawingml/2006/main">
              <a:ext uri="{FF2B5EF4-FFF2-40B4-BE49-F238E27FC236}">
                <a16:creationId xmlns:a16="http://schemas.microsoft.com/office/drawing/2014/main" id="{78124C86-7A9C-42D5-B8CC-ABE1F333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52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600BD0FD-FB45-4EDD-BBE7-2BF51EE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应用场景：[填写 LoRa/ZigBee/协议桥接场景]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96121708-3BF5-44AB-8971-B5CF0EBA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text-1">
            <a:extLst xmlns:a="http://schemas.openxmlformats.org/drawingml/2006/main">
              <a:ext uri="{FF2B5EF4-FFF2-40B4-BE49-F238E27FC236}">
                <a16:creationId xmlns:a16="http://schemas.microsoft.com/office/drawing/2014/main" id="{113C4963-550C-4958-9978-3ED9C86E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5025D332-51C0-4A6E-B3A2-CBFE072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实验问题：[填写要解决的通信或转换问题]</a:t>
            </a:r>
          </a:p>
        </p:txBody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6E02F0C8-6832-4476-AFD5-62E5AA3F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text-2">
            <a:extLst xmlns:a="http://schemas.openxmlformats.org/drawingml/2006/main">
              <a:ext uri="{FF2B5EF4-FFF2-40B4-BE49-F238E27FC236}">
                <a16:creationId xmlns:a16="http://schemas.microsoft.com/office/drawing/2014/main" id="{72395DD4-B2CB-49AC-9C67-1B23F6F2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14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item-2">
            <a:extLst xmlns:a="http://schemas.openxmlformats.org/drawingml/2006/main">
              <a:ext uri="{FF2B5EF4-FFF2-40B4-BE49-F238E27FC236}">
                <a16:creationId xmlns:a16="http://schemas.microsoft.com/office/drawing/2014/main" id="{B602CB1B-D6AA-4006-AFC3-D84ADCEA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学习目标：[填写协议、设备、测试能力]</a:t>
            </a:r>
          </a:p>
        </p:txBody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B33E7534-6170-4081-B903-3F478BEE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text-3">
            <a:extLst xmlns:a="http://schemas.openxmlformats.org/drawingml/2006/main">
              <a:ext uri="{FF2B5EF4-FFF2-40B4-BE49-F238E27FC236}">
                <a16:creationId xmlns:a16="http://schemas.microsoft.com/office/drawing/2014/main" id="{27EB1484-9479-42C2-B283-1660BF61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95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item-3">
            <a:extLst xmlns:a="http://schemas.openxmlformats.org/drawingml/2006/main">
              <a:ext uri="{FF2B5EF4-FFF2-40B4-BE49-F238E27FC236}">
                <a16:creationId xmlns:a16="http://schemas.microsoft.com/office/drawing/2014/main" id="{0672D61A-AF67-4C0A-BC4D-DC741BAF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最终成果：[代码、指导书、PPT、测试记录]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9116332-517E-4D81-BF37-BDDCBF37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ED395C7-6A07-499B-A4D8-C9F473D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19" name="footer-no">
            <a:extLst xmlns:a="http://schemas.openxmlformats.org/drawingml/2006/main">
              <a:ext uri="{FF2B5EF4-FFF2-40B4-BE49-F238E27FC236}">
                <a16:creationId xmlns:a16="http://schemas.microsoft.com/office/drawing/2014/main" id="{4A45C283-F26D-4EC4-BBC9-DCE05E38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7586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97532E54-74B6-4DB4-A670-5538F634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62ACFE-81D2-41A2-B831-87CB6CE1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实验环境必须可复现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5FD9196-2EEB-405F-92F0-29CBD1B0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这一页用于说明别人复现实验所需的硬件、软件、网络和依赖。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E0684E68-321D-4ED7-984B-340AE825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191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8AE5A56C-ADDC-45C3-B569-DEC78C45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text-0">
            <a:extLst xmlns:a="http://schemas.openxmlformats.org/drawingml/2006/main">
              <a:ext uri="{FF2B5EF4-FFF2-40B4-BE49-F238E27FC236}">
                <a16:creationId xmlns:a16="http://schemas.microsoft.com/office/drawing/2014/main" id="{3D162D67-2222-4D11-927A-AA2B8D2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52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F1CE435A-23CF-4D93-90B1-644F97EF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硬件：[开发板、网关、传感器、执行器]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007D9EC0-4A96-408D-BD66-D3ED11D5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text-1">
            <a:extLst xmlns:a="http://schemas.openxmlformats.org/drawingml/2006/main">
              <a:ext uri="{FF2B5EF4-FFF2-40B4-BE49-F238E27FC236}">
                <a16:creationId xmlns:a16="http://schemas.microsoft.com/office/drawing/2014/main" id="{5A410F60-44A1-49F1-BF33-45673A5A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1672E41A-D602-4236-968B-F25138F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软件：[IDE、Python、串口工具、MQTT 工具]</a:t>
            </a:r>
          </a:p>
        </p:txBody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7AEA7D1B-1001-44B2-B150-9A0BD02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text-2">
            <a:extLst xmlns:a="http://schemas.openxmlformats.org/drawingml/2006/main">
              <a:ext uri="{FF2B5EF4-FFF2-40B4-BE49-F238E27FC236}">
                <a16:creationId xmlns:a16="http://schemas.microsoft.com/office/drawing/2014/main" id="{60F0B78E-F94C-4128-8EDB-9EBBD6EB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14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item-2">
            <a:extLst xmlns:a="http://schemas.openxmlformats.org/drawingml/2006/main">
              <a:ext uri="{FF2B5EF4-FFF2-40B4-BE49-F238E27FC236}">
                <a16:creationId xmlns:a16="http://schemas.microsoft.com/office/drawing/2014/main" id="{0594FD37-92A7-4E81-BF5F-BC8EFB2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网络：[broker 地址、VSOA 服务地址]</a:t>
            </a:r>
          </a:p>
        </p:txBody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DF138701-EDF6-4780-91FA-C1001C44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text-3">
            <a:extLst xmlns:a="http://schemas.openxmlformats.org/drawingml/2006/main">
              <a:ext uri="{FF2B5EF4-FFF2-40B4-BE49-F238E27FC236}">
                <a16:creationId xmlns:a16="http://schemas.microsoft.com/office/drawing/2014/main" id="{C713604B-F4B4-445E-98D5-CABDC5F0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95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item-3">
            <a:extLst xmlns:a="http://schemas.openxmlformats.org/drawingml/2006/main">
              <a:ext uri="{FF2B5EF4-FFF2-40B4-BE49-F238E27FC236}">
                <a16:creationId xmlns:a16="http://schemas.microsoft.com/office/drawing/2014/main" id="{D04B55DA-0BC0-454F-B762-B3AFB53F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依赖：[安装命令和版本要求]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EB001C-F669-4664-941F-E6E8BBD1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BDBE574-CAED-4798-832C-CD745A2D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19" name="footer-no">
            <a:extLst xmlns:a="http://schemas.openxmlformats.org/drawingml/2006/main">
              <a:ext uri="{FF2B5EF4-FFF2-40B4-BE49-F238E27FC236}">
                <a16:creationId xmlns:a16="http://schemas.microsoft.com/office/drawing/2014/main" id="{BF6D04CF-2333-48F2-9217-BEE83627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0084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710A74E-F023-409F-B3FD-BDEC7286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系统架构要让数据流向一眼看清</a:t>
            </a:r>
          </a:p>
        </p:txBody>
      </p:sp>
      <p:sp>
        <p:nvSpPr>
          <p:cNvPr id="2" name="node-0">
            <a:extLst xmlns:a="http://schemas.openxmlformats.org/drawingml/2006/main">
              <a:ext uri="{FF2B5EF4-FFF2-40B4-BE49-F238E27FC236}">
                <a16:creationId xmlns:a16="http://schemas.microsoft.com/office/drawing/2014/main" id="{43E7939C-32E5-416B-9CC8-3622146C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node-text-0">
            <a:extLst xmlns:a="http://schemas.openxmlformats.org/drawingml/2006/main">
              <a:ext uri="{FF2B5EF4-FFF2-40B4-BE49-F238E27FC236}">
                <a16:creationId xmlns:a16="http://schemas.microsoft.com/office/drawing/2014/main" id="{4FE66938-36F9-4396-BB18-8470B0FC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设备/网关</a:t>
            </a:r>
          </a:p>
        </p:txBody>
      </p:sp>
      <p:sp>
        <p:nvSpPr>
          <p:cNvPr id="4" name="node-1">
            <a:extLst xmlns:a="http://schemas.openxmlformats.org/drawingml/2006/main">
              <a:ext uri="{FF2B5EF4-FFF2-40B4-BE49-F238E27FC236}">
                <a16:creationId xmlns:a16="http://schemas.microsoft.com/office/drawing/2014/main" id="{66FDAF71-1347-4970-AEC5-E382BA59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ode-text-1">
            <a:extLst xmlns:a="http://schemas.openxmlformats.org/drawingml/2006/main">
              <a:ext uri="{FF2B5EF4-FFF2-40B4-BE49-F238E27FC236}">
                <a16:creationId xmlns:a16="http://schemas.microsoft.com/office/drawing/2014/main" id="{03721234-36A8-4F61-A5C1-531C5DC3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384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MQTT Broker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93AC0B4C-E537-44C5-8C10-86D1EC60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node-text-2">
            <a:extLst xmlns:a="http://schemas.openxmlformats.org/drawingml/2006/main">
              <a:ext uri="{FF2B5EF4-FFF2-40B4-BE49-F238E27FC236}">
                <a16:creationId xmlns:a16="http://schemas.microsoft.com/office/drawing/2014/main" id="{7D9DC3E5-53EC-48DA-B8AF-D7B646AC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384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桥接组件</a:t>
            </a:r>
          </a:p>
        </p:txBody>
      </p:sp>
      <p:sp>
        <p:nvSpPr>
          <p:cNvPr id="8" name="node-3">
            <a:extLst xmlns:a="http://schemas.openxmlformats.org/drawingml/2006/main">
              <a:ext uri="{FF2B5EF4-FFF2-40B4-BE49-F238E27FC236}">
                <a16:creationId xmlns:a16="http://schemas.microsoft.com/office/drawing/2014/main" id="{55D391FF-8094-49D3-87EA-4BB6EE10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node-text-3">
            <a:extLst xmlns:a="http://schemas.openxmlformats.org/drawingml/2006/main">
              <a:ext uri="{FF2B5EF4-FFF2-40B4-BE49-F238E27FC236}">
                <a16:creationId xmlns:a16="http://schemas.microsoft.com/office/drawing/2014/main" id="{8F6094EC-FC09-4162-9644-F55A5E54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VSOA 服务</a:t>
            </a:r>
          </a:p>
        </p:txBody>
      </p:sp>
      <p:sp>
        <p:nvSpPr>
          <p:cNvPr id="10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56682C6D-9E52-457F-911F-06ED6B96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908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-head-0">
            <a:extLst xmlns:a="http://schemas.openxmlformats.org/drawingml/2006/main">
              <a:ext uri="{FF2B5EF4-FFF2-40B4-BE49-F238E27FC236}">
                <a16:creationId xmlns:a16="http://schemas.microsoft.com/office/drawing/2014/main" id="{28616B11-6EAF-47C0-A343-75AA3B7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575AB7C5-B507-4BEC-9B6C-04D5A6B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908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row-head-1">
            <a:extLst xmlns:a="http://schemas.openxmlformats.org/drawingml/2006/main">
              <a:ext uri="{FF2B5EF4-FFF2-40B4-BE49-F238E27FC236}">
                <a16:creationId xmlns:a16="http://schemas.microsoft.com/office/drawing/2014/main" id="{DAE5DAAA-4D24-42B7-A0EA-5A1D69AD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454C3F2A-41AC-472D-B154-1E80BA0D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908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row-head-2">
            <a:extLst xmlns:a="http://schemas.openxmlformats.org/drawingml/2006/main">
              <a:ext uri="{FF2B5EF4-FFF2-40B4-BE49-F238E27FC236}">
                <a16:creationId xmlns:a16="http://schemas.microsoft.com/office/drawing/2014/main" id="{61B0027C-ABDE-4A18-A981-C5EA0B61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up">
            <a:extLst xmlns:a="http://schemas.openxmlformats.org/drawingml/2006/main">
              <a:ext uri="{FF2B5EF4-FFF2-40B4-BE49-F238E27FC236}">
                <a16:creationId xmlns:a16="http://schemas.microsoft.com/office/drawing/2014/main" id="{D51BE617-E406-4847-87BA-EB2838A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上行：设备数据通过 MQTT 进入桥接组件，转换为 VSOA 数据模型。</a:t>
            </a:r>
          </a:p>
        </p:txBody>
      </p:sp>
      <p:sp>
        <p:nvSpPr>
          <p:cNvPr id="17" name="down">
            <a:extLst xmlns:a="http://schemas.openxmlformats.org/drawingml/2006/main">
              <a:ext uri="{FF2B5EF4-FFF2-40B4-BE49-F238E27FC236}">
                <a16:creationId xmlns:a16="http://schemas.microsoft.com/office/drawing/2014/main" id="{2EF1452A-A3C4-4B57-8E45-236D1CAC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下行：VSOA 控制命令经桥接组件生成 MQTT downlink 消息。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454704-F691-4E75-9BE7-9E2B9FAC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5F6C204-3012-48B6-8D27-EEDF6DD3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20" name="footer-no">
            <a:extLst xmlns:a="http://schemas.openxmlformats.org/drawingml/2006/main">
              <a:ext uri="{FF2B5EF4-FFF2-40B4-BE49-F238E27FC236}">
                <a16:creationId xmlns:a16="http://schemas.microsoft.com/office/drawing/2014/main" id="{5D693167-40BA-4729-9845-7A5FBB91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7288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D7BADE2F-B7C4-48B4-879E-A6356F2E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171432-6011-4AA7-988B-58D8447E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操作流程按可执行步骤展开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E7691F7-B7C6-421D-85B6-88A04A1D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每一步都要能被非作者照着完成，并能看到明确的运行现象。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1E5CA509-24FC-4D58-9367-61DB8E6D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191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8BFE6004-3364-4FFA-AC7A-F80A71DC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text-0">
            <a:extLst xmlns:a="http://schemas.openxmlformats.org/drawingml/2006/main">
              <a:ext uri="{FF2B5EF4-FFF2-40B4-BE49-F238E27FC236}">
                <a16:creationId xmlns:a16="http://schemas.microsoft.com/office/drawing/2014/main" id="{3D4AD467-9050-4298-85E9-F472D8A1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52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1F08BE63-923E-411A-8EDB-346A628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步骤 1：启动基础环境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D1E60665-4479-44A9-A254-95EEDBF3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text-1">
            <a:extLst xmlns:a="http://schemas.openxmlformats.org/drawingml/2006/main">
              <a:ext uri="{FF2B5EF4-FFF2-40B4-BE49-F238E27FC236}">
                <a16:creationId xmlns:a16="http://schemas.microsoft.com/office/drawing/2014/main" id="{7E7EE33E-E291-44AB-82D8-3DA794A6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232C856B-2D1D-42A9-8EB1-D5FF2C89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步骤 2：修改配置文件</a:t>
            </a:r>
          </a:p>
        </p:txBody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6BF5C59F-8E87-4FBA-AE48-813C3712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text-2">
            <a:extLst xmlns:a="http://schemas.openxmlformats.org/drawingml/2006/main">
              <a:ext uri="{FF2B5EF4-FFF2-40B4-BE49-F238E27FC236}">
                <a16:creationId xmlns:a16="http://schemas.microsoft.com/office/drawing/2014/main" id="{B705967A-DFE0-4133-AD06-6BE0FD8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14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item-2">
            <a:extLst xmlns:a="http://schemas.openxmlformats.org/drawingml/2006/main">
              <a:ext uri="{FF2B5EF4-FFF2-40B4-BE49-F238E27FC236}">
                <a16:creationId xmlns:a16="http://schemas.microsoft.com/office/drawing/2014/main" id="{800AB1D1-05ED-4E8F-B6C4-0F3C8219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步骤 3：运行设备端或桥接程序</a:t>
            </a:r>
          </a:p>
        </p:txBody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8BF7268B-EF9C-46DB-B4A0-92FF5994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text-3">
            <a:extLst xmlns:a="http://schemas.openxmlformats.org/drawingml/2006/main">
              <a:ext uri="{FF2B5EF4-FFF2-40B4-BE49-F238E27FC236}">
                <a16:creationId xmlns:a16="http://schemas.microsoft.com/office/drawing/2014/main" id="{B0FF2B96-69B3-4139-8415-4DC920FE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95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item-3">
            <a:extLst xmlns:a="http://schemas.openxmlformats.org/drawingml/2006/main">
              <a:ext uri="{FF2B5EF4-FFF2-40B4-BE49-F238E27FC236}">
                <a16:creationId xmlns:a16="http://schemas.microsoft.com/office/drawing/2014/main" id="{07C4278B-5EC7-4E6E-AF65-EC0AA9A6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步骤 4：发送数据并观察结果</a:t>
            </a:r>
          </a:p>
        </p:txBody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C545B874-4ECA-479C-A52D-18CDF720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9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text-4">
            <a:extLst xmlns:a="http://schemas.openxmlformats.org/drawingml/2006/main">
              <a:ext uri="{FF2B5EF4-FFF2-40B4-BE49-F238E27FC236}">
                <a16:creationId xmlns:a16="http://schemas.microsoft.com/office/drawing/2014/main" id="{C277CB49-D818-4D06-A728-C9CAA5AF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6767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item-4">
            <a:extLst xmlns:a="http://schemas.openxmlformats.org/drawingml/2006/main">
              <a:ext uri="{FF2B5EF4-FFF2-40B4-BE49-F238E27FC236}">
                <a16:creationId xmlns:a16="http://schemas.microsoft.com/office/drawing/2014/main" id="{06C70F6B-013A-4812-A291-D48B66C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步骤 5：保存日志、截图和测试记录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3F863F9-B909-4C55-B715-6D45CBDA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46822D3-6E1B-4536-942C-41C0E826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22" name="footer-no">
            <a:extLst xmlns:a="http://schemas.openxmlformats.org/drawingml/2006/main">
              <a:ext uri="{FF2B5EF4-FFF2-40B4-BE49-F238E27FC236}">
                <a16:creationId xmlns:a16="http://schemas.microsoft.com/office/drawing/2014/main" id="{054CA2D9-25F4-4777-9DBD-A7E51B30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2591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1A8AEEE6-6716-4816-9032-E2B76E2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0A551C-CA47-44DD-9E1E-7DE98BAD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关键代码只讲影响实验成败的部分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C8984DA-3552-49BF-9994-85FABC8D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避免逐行解释代码，重点说明输入、处理逻辑、输出和异常处理。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540D6704-FB89-4647-8718-35EB9F20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191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69A38606-3841-4B5E-A80B-9634D15B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text-0">
            <a:extLst xmlns:a="http://schemas.openxmlformats.org/drawingml/2006/main">
              <a:ext uri="{FF2B5EF4-FFF2-40B4-BE49-F238E27FC236}">
                <a16:creationId xmlns:a16="http://schemas.microsoft.com/office/drawing/2014/main" id="{3E0F0DEA-61C5-4E17-AD85-23A30747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52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2848F34F-F645-454A-8A03-737831BD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配置读取：[文件名/字段]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6F9D44B3-4597-4243-B0CE-729D52DB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text-1">
            <a:extLst xmlns:a="http://schemas.openxmlformats.org/drawingml/2006/main">
              <a:ext uri="{FF2B5EF4-FFF2-40B4-BE49-F238E27FC236}">
                <a16:creationId xmlns:a16="http://schemas.microsoft.com/office/drawing/2014/main" id="{DFF3C1CB-32A2-4A47-8917-CEDDAF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4650FF78-5E97-44A2-897E-02056B43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payload 校验：[必填字段]</a:t>
            </a:r>
          </a:p>
        </p:txBody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BA576F2A-9CD2-46DC-AC9F-02984621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text-2">
            <a:extLst xmlns:a="http://schemas.openxmlformats.org/drawingml/2006/main">
              <a:ext uri="{FF2B5EF4-FFF2-40B4-BE49-F238E27FC236}">
                <a16:creationId xmlns:a16="http://schemas.microsoft.com/office/drawing/2014/main" id="{A189E89E-0025-46B6-A3EA-8A8BF8AC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14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item-2">
            <a:extLst xmlns:a="http://schemas.openxmlformats.org/drawingml/2006/main">
              <a:ext uri="{FF2B5EF4-FFF2-40B4-BE49-F238E27FC236}">
                <a16:creationId xmlns:a16="http://schemas.microsoft.com/office/drawing/2014/main" id="{DB578277-055A-4F83-B4E6-380CE15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协议转换：[核心函数]</a:t>
            </a:r>
          </a:p>
        </p:txBody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A7569D4B-2E7E-49C1-A97D-9D12A4D5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text-3">
            <a:extLst xmlns:a="http://schemas.openxmlformats.org/drawingml/2006/main">
              <a:ext uri="{FF2B5EF4-FFF2-40B4-BE49-F238E27FC236}">
                <a16:creationId xmlns:a16="http://schemas.microsoft.com/office/drawing/2014/main" id="{97D697B4-E065-4A63-83F9-D2FD1043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95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item-3">
            <a:extLst xmlns:a="http://schemas.openxmlformats.org/drawingml/2006/main">
              <a:ext uri="{FF2B5EF4-FFF2-40B4-BE49-F238E27FC236}">
                <a16:creationId xmlns:a16="http://schemas.microsoft.com/office/drawing/2014/main" id="{E2E2FDC8-9749-49BB-88B4-30935F0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日志与错误处理：[异常场景]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ADE737-BB57-4820-A3DC-00BA52F9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B5D408F-48DB-4053-ADDC-01409774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19" name="footer-no">
            <a:extLst xmlns:a="http://schemas.openxmlformats.org/drawingml/2006/main">
              <a:ext uri="{FF2B5EF4-FFF2-40B4-BE49-F238E27FC236}">
                <a16:creationId xmlns:a16="http://schemas.microsoft.com/office/drawing/2014/main" id="{9BC078A6-3644-480C-8568-A6ACE0E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0967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ED7F5B3-CFA4-4BBF-8595-74C4775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测试记录页用于证明实验可验收</a:t>
            </a:r>
          </a:p>
        </p:txBody>
      </p:sp>
      <p:sp>
        <p:nvSpPr>
          <p:cNvPr id="2" name="row-0">
            <a:extLst xmlns:a="http://schemas.openxmlformats.org/drawingml/2006/main">
              <a:ext uri="{FF2B5EF4-FFF2-40B4-BE49-F238E27FC236}">
                <a16:creationId xmlns:a16="http://schemas.microsoft.com/office/drawing/2014/main" id="{09A9B358-F43E-48BE-A8D4-F578343A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check-0">
            <a:extLst xmlns:a="http://schemas.openxmlformats.org/drawingml/2006/main">
              <a:ext uri="{FF2B5EF4-FFF2-40B4-BE49-F238E27FC236}">
                <a16:creationId xmlns:a16="http://schemas.microsoft.com/office/drawing/2014/main" id="{DBF4C259-33EC-4B8A-B30F-13CEF49F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4" name="row-text-0">
            <a:extLst xmlns:a="http://schemas.openxmlformats.org/drawingml/2006/main">
              <a:ext uri="{FF2B5EF4-FFF2-40B4-BE49-F238E27FC236}">
                <a16:creationId xmlns:a16="http://schemas.microsoft.com/office/drawing/2014/main" id="{970BBF34-610E-4AE1-8C80-963F9CAC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382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T01 合法上行 payload 能转换为目标数据模型</a:t>
            </a:r>
          </a:p>
        </p:txBody>
      </p:sp>
      <p:sp>
        <p:nvSpPr>
          <p:cNvPr id="5" name="row-1">
            <a:extLst xmlns:a="http://schemas.openxmlformats.org/drawingml/2006/main">
              <a:ext uri="{FF2B5EF4-FFF2-40B4-BE49-F238E27FC236}">
                <a16:creationId xmlns:a16="http://schemas.microsoft.com/office/drawing/2014/main" id="{42B17FD3-1DDD-4881-A7F9-4889942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A3755684-1A25-42C5-BE20-3238DA80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7" name="row-text-1">
            <a:extLst xmlns:a="http://schemas.openxmlformats.org/drawingml/2006/main">
              <a:ext uri="{FF2B5EF4-FFF2-40B4-BE49-F238E27FC236}">
                <a16:creationId xmlns:a16="http://schemas.microsoft.com/office/drawing/2014/main" id="{266FA617-678F-4C4E-898E-3DC0E11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T02 合法下行 command 能生成目标控制消息</a:t>
            </a:r>
          </a:p>
        </p:txBody>
      </p:sp>
      <p:sp>
        <p:nvSpPr>
          <p:cNvPr id="8" name="row-2">
            <a:extLst xmlns:a="http://schemas.openxmlformats.org/drawingml/2006/main">
              <a:ext uri="{FF2B5EF4-FFF2-40B4-BE49-F238E27FC236}">
                <a16:creationId xmlns:a16="http://schemas.microsoft.com/office/drawing/2014/main" id="{074F7031-EB8D-4201-8EF4-A7BDE0DD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check-2">
            <a:extLst xmlns:a="http://schemas.openxmlformats.org/drawingml/2006/main">
              <a:ext uri="{FF2B5EF4-FFF2-40B4-BE49-F238E27FC236}">
                <a16:creationId xmlns:a16="http://schemas.microsoft.com/office/drawing/2014/main" id="{1E640752-93E1-4313-93D0-02A566A9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10" name="row-text-2">
            <a:extLst xmlns:a="http://schemas.openxmlformats.org/drawingml/2006/main">
              <a:ext uri="{FF2B5EF4-FFF2-40B4-BE49-F238E27FC236}">
                <a16:creationId xmlns:a16="http://schemas.microsoft.com/office/drawing/2014/main" id="{181A0A28-D2FC-4E09-B4AD-9605125E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T03 缺少必填字段时能返回明确错误</a:t>
            </a:r>
          </a:p>
        </p:txBody>
      </p:sp>
      <p:sp>
        <p:nvSpPr>
          <p:cNvPr id="11" name="row-3">
            <a:extLst xmlns:a="http://schemas.openxmlformats.org/drawingml/2006/main">
              <a:ext uri="{FF2B5EF4-FFF2-40B4-BE49-F238E27FC236}">
                <a16:creationId xmlns:a16="http://schemas.microsoft.com/office/drawing/2014/main" id="{AF59D383-313E-4933-B582-F3BC174B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heck-3">
            <a:extLst xmlns:a="http://schemas.openxmlformats.org/drawingml/2006/main">
              <a:ext uri="{FF2B5EF4-FFF2-40B4-BE49-F238E27FC236}">
                <a16:creationId xmlns:a16="http://schemas.microsoft.com/office/drawing/2014/main" id="{9A6EE406-AC3D-4985-8444-324A9544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13" name="row-text-3">
            <a:extLst xmlns:a="http://schemas.openxmlformats.org/drawingml/2006/main">
              <a:ext uri="{FF2B5EF4-FFF2-40B4-BE49-F238E27FC236}">
                <a16:creationId xmlns:a16="http://schemas.microsoft.com/office/drawing/2014/main" id="{7216BF49-EB42-4CCB-B1D1-DA48892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099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T04 真实设备或模拟链路能完成端到端闭环</a:t>
            </a:r>
          </a:p>
        </p:txBody>
      </p:sp>
      <p:sp>
        <p:nvSpPr>
          <p:cNvPr id="14" name="row-4">
            <a:extLst xmlns:a="http://schemas.openxmlformats.org/drawingml/2006/main">
              <a:ext uri="{FF2B5EF4-FFF2-40B4-BE49-F238E27FC236}">
                <a16:creationId xmlns:a16="http://schemas.microsoft.com/office/drawing/2014/main" id="{C4D70A2F-B4B6-4B3D-B493-15A9EB49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check-4">
            <a:extLst xmlns:a="http://schemas.openxmlformats.org/drawingml/2006/main">
              <a:ext uri="{FF2B5EF4-FFF2-40B4-BE49-F238E27FC236}">
                <a16:creationId xmlns:a16="http://schemas.microsoft.com/office/drawing/2014/main" id="{545DEACB-592B-4C3C-8FD5-F80B688D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16" name="row-text-4">
            <a:extLst xmlns:a="http://schemas.openxmlformats.org/drawingml/2006/main">
              <a:ext uri="{FF2B5EF4-FFF2-40B4-BE49-F238E27FC236}">
                <a16:creationId xmlns:a16="http://schemas.microsoft.com/office/drawing/2014/main" id="{59830B52-3489-4D0C-BEDB-89920340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T05 非作者按指导书完成一次交叉复现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8F4F1DE-202F-4FD3-AC13-C209874C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6B1A64C-C82D-4D7D-9ADB-E2CE90BA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19" name="footer-no">
            <a:extLst xmlns:a="http://schemas.openxmlformats.org/drawingml/2006/main">
              <a:ext uri="{FF2B5EF4-FFF2-40B4-BE49-F238E27FC236}">
                <a16:creationId xmlns:a16="http://schemas.microsoft.com/office/drawing/2014/main" id="{95A5D3C1-66CE-4235-AD9C-63618265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7485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7621F6EC-37A6-4CF2-8F1C-675B0D10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9C4E81-2476-40F3-8B8B-46EEFFA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问题排查要沉淀成复用经验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24F9A6C1-5CD3-4141-AA3D-C9B5BC11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把调试过程写成清单，下一位同学遇到同类问题时可以直接定位。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5BFCE721-D011-40C7-ADD8-1F18DBA5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191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E82702D7-2EB7-4D3C-A2D6-35710AF8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text-0">
            <a:extLst xmlns:a="http://schemas.openxmlformats.org/drawingml/2006/main">
              <a:ext uri="{FF2B5EF4-FFF2-40B4-BE49-F238E27FC236}">
                <a16:creationId xmlns:a16="http://schemas.microsoft.com/office/drawing/2014/main" id="{9D46B20C-DB15-418A-AA57-A0D01424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52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7AEB0011-29B9-4AFC-A522-E215CB1E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连接失败：检查 IP、端口、broker 或服务状态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04DA7FFD-6B37-4730-BCF6-1ABCD57F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text-1">
            <a:extLst xmlns:a="http://schemas.openxmlformats.org/drawingml/2006/main">
              <a:ext uri="{FF2B5EF4-FFF2-40B4-BE49-F238E27FC236}">
                <a16:creationId xmlns:a16="http://schemas.microsoft.com/office/drawing/2014/main" id="{5848851C-3A2F-4C2A-9515-1B7B9F78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8E9F8BB5-0525-41FE-95C5-8A2946FB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解析失败：检查 JSON 格式和 schema 字段</a:t>
            </a:r>
          </a:p>
        </p:txBody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D08944A3-7F03-4EED-8C39-2FADE4E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text-2">
            <a:extLst xmlns:a="http://schemas.openxmlformats.org/drawingml/2006/main">
              <a:ext uri="{FF2B5EF4-FFF2-40B4-BE49-F238E27FC236}">
                <a16:creationId xmlns:a16="http://schemas.microsoft.com/office/drawing/2014/main" id="{B37CE467-4318-4AA5-B185-E22F2DC6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14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item-2">
            <a:extLst xmlns:a="http://schemas.openxmlformats.org/drawingml/2006/main">
              <a:ext uri="{FF2B5EF4-FFF2-40B4-BE49-F238E27FC236}">
                <a16:creationId xmlns:a16="http://schemas.microsoft.com/office/drawing/2014/main" id="{31D04D50-CEE4-4995-AE38-FDC1EB07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设备无响应：检查 topic、串口和设备程序</a:t>
            </a:r>
          </a:p>
        </p:txBody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474976B4-CC19-4D60-A36B-7B8A2459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text-3">
            <a:extLst xmlns:a="http://schemas.openxmlformats.org/drawingml/2006/main">
              <a:ext uri="{FF2B5EF4-FFF2-40B4-BE49-F238E27FC236}">
                <a16:creationId xmlns:a16="http://schemas.microsoft.com/office/drawing/2014/main" id="{29DBD21C-2DD0-4D7D-BE82-2149DF67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95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item-3">
            <a:extLst xmlns:a="http://schemas.openxmlformats.org/drawingml/2006/main">
              <a:ext uri="{FF2B5EF4-FFF2-40B4-BE49-F238E27FC236}">
                <a16:creationId xmlns:a16="http://schemas.microsoft.com/office/drawing/2014/main" id="{C0EE1F01-BCDA-4887-A951-C94E4B0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结果不一致：检查配置、时间戳和日志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F1C668D-CF32-4877-B824-674A617D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306DDD-C0FE-4986-828B-6BB2AEB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19" name="footer-no">
            <a:extLst xmlns:a="http://schemas.openxmlformats.org/drawingml/2006/main">
              <a:ext uri="{FF2B5EF4-FFF2-40B4-BE49-F238E27FC236}">
                <a16:creationId xmlns:a16="http://schemas.microsoft.com/office/drawing/2014/main" id="{14074261-FFFE-4D5E-B5BE-4B158B5C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5363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348794C-66CA-49C5-B794-CF1AC976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最终交付要逐项确认</a:t>
            </a:r>
          </a:p>
        </p:txBody>
      </p:sp>
      <p:sp>
        <p:nvSpPr>
          <p:cNvPr id="2" name="row-0">
            <a:extLst xmlns:a="http://schemas.openxmlformats.org/drawingml/2006/main">
              <a:ext uri="{FF2B5EF4-FFF2-40B4-BE49-F238E27FC236}">
                <a16:creationId xmlns:a16="http://schemas.microsoft.com/office/drawing/2014/main" id="{26476922-55FC-4EF9-96BA-181A03FC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check-0">
            <a:extLst xmlns:a="http://schemas.openxmlformats.org/drawingml/2006/main">
              <a:ext uri="{FF2B5EF4-FFF2-40B4-BE49-F238E27FC236}">
                <a16:creationId xmlns:a16="http://schemas.microsoft.com/office/drawing/2014/main" id="{0C5472F1-6D47-4A99-9B49-FB792FFB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4" name="row-text-0">
            <a:extLst xmlns:a="http://schemas.openxmlformats.org/drawingml/2006/main">
              <a:ext uri="{FF2B5EF4-FFF2-40B4-BE49-F238E27FC236}">
                <a16:creationId xmlns:a16="http://schemas.microsoft.com/office/drawing/2014/main" id="{A4A5BA8C-CE40-42D1-A0D5-56EE3D1B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382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代码目录符合统一仓库结构</a:t>
            </a:r>
          </a:p>
        </p:txBody>
      </p:sp>
      <p:sp>
        <p:nvSpPr>
          <p:cNvPr id="5" name="row-1">
            <a:extLst xmlns:a="http://schemas.openxmlformats.org/drawingml/2006/main">
              <a:ext uri="{FF2B5EF4-FFF2-40B4-BE49-F238E27FC236}">
                <a16:creationId xmlns:a16="http://schemas.microsoft.com/office/drawing/2014/main" id="{E299151B-ACCC-480E-8923-F4FFA22B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C8550B91-22C1-4C5F-9953-32DCCB4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7" name="row-text-1">
            <a:extLst xmlns:a="http://schemas.openxmlformats.org/drawingml/2006/main">
              <a:ext uri="{FF2B5EF4-FFF2-40B4-BE49-F238E27FC236}">
                <a16:creationId xmlns:a16="http://schemas.microsoft.com/office/drawing/2014/main" id="{F7FB515D-9AE8-405D-AFC1-99AC154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README 能说明运行方式和实验入口</a:t>
            </a:r>
          </a:p>
        </p:txBody>
      </p:sp>
      <p:sp>
        <p:nvSpPr>
          <p:cNvPr id="8" name="row-2">
            <a:extLst xmlns:a="http://schemas.openxmlformats.org/drawingml/2006/main">
              <a:ext uri="{FF2B5EF4-FFF2-40B4-BE49-F238E27FC236}">
                <a16:creationId xmlns:a16="http://schemas.microsoft.com/office/drawing/2014/main" id="{19BD159B-BA5D-484D-A382-846FFC6A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check-2">
            <a:extLst xmlns:a="http://schemas.openxmlformats.org/drawingml/2006/main">
              <a:ext uri="{FF2B5EF4-FFF2-40B4-BE49-F238E27FC236}">
                <a16:creationId xmlns:a16="http://schemas.microsoft.com/office/drawing/2014/main" id="{6D3480EE-4795-4A80-B85F-5DEFA851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10" name="row-text-2">
            <a:extLst xmlns:a="http://schemas.openxmlformats.org/drawingml/2006/main">
              <a:ext uri="{FF2B5EF4-FFF2-40B4-BE49-F238E27FC236}">
                <a16:creationId xmlns:a16="http://schemas.microsoft.com/office/drawing/2014/main" id="{7F74D90D-1335-4FB8-B554-EC016A4C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实验指导书包含步骤、截图和测试记录</a:t>
            </a:r>
          </a:p>
        </p:txBody>
      </p:sp>
      <p:sp>
        <p:nvSpPr>
          <p:cNvPr id="11" name="row-3">
            <a:extLst xmlns:a="http://schemas.openxmlformats.org/drawingml/2006/main">
              <a:ext uri="{FF2B5EF4-FFF2-40B4-BE49-F238E27FC236}">
                <a16:creationId xmlns:a16="http://schemas.microsoft.com/office/drawing/2014/main" id="{CA0FE60E-5BFC-44D3-B794-1520F917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heck-3">
            <a:extLst xmlns:a="http://schemas.openxmlformats.org/drawingml/2006/main">
              <a:ext uri="{FF2B5EF4-FFF2-40B4-BE49-F238E27FC236}">
                <a16:creationId xmlns:a16="http://schemas.microsoft.com/office/drawing/2014/main" id="{FD376A4B-23F9-41FE-B0D8-0957ABFE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13" name="row-text-3">
            <a:extLst xmlns:a="http://schemas.openxmlformats.org/drawingml/2006/main">
              <a:ext uri="{FF2B5EF4-FFF2-40B4-BE49-F238E27FC236}">
                <a16:creationId xmlns:a16="http://schemas.microsoft.com/office/drawing/2014/main" id="{E2F16210-7FE5-4700-A1F4-1DCC9FC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0992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PPT 包含背景、目标、架构、流程、测试和总结</a:t>
            </a:r>
          </a:p>
        </p:txBody>
      </p:sp>
      <p:sp>
        <p:nvSpPr>
          <p:cNvPr id="14" name="row-4">
            <a:extLst xmlns:a="http://schemas.openxmlformats.org/drawingml/2006/main">
              <a:ext uri="{FF2B5EF4-FFF2-40B4-BE49-F238E27FC236}">
                <a16:creationId xmlns:a16="http://schemas.microsoft.com/office/drawing/2014/main" id="{020F1747-CD45-4AB8-AB69-2B656322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check-4">
            <a:extLst xmlns:a="http://schemas.openxmlformats.org/drawingml/2006/main">
              <a:ext uri="{FF2B5EF4-FFF2-40B4-BE49-F238E27FC236}">
                <a16:creationId xmlns:a16="http://schemas.microsoft.com/office/drawing/2014/main" id="{877D8643-2C74-4321-8DE2-50BD5190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□</a:t>
            </a:r>
          </a:p>
        </p:txBody>
      </p:sp>
      <p:sp>
        <p:nvSpPr>
          <p:cNvPr id="16" name="row-text-4">
            <a:extLst xmlns:a="http://schemas.openxmlformats.org/drawingml/2006/main">
              <a:ext uri="{FF2B5EF4-FFF2-40B4-BE49-F238E27FC236}">
                <a16:creationId xmlns:a16="http://schemas.microsoft.com/office/drawing/2014/main" id="{DC916A83-1A96-40E1-9148-881AD3F6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004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验收清单和问题关闭表已更新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F0DA21A-7DEF-4E1C-9B1C-6D8A535B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26C615-35A3-4EF8-ACD2-BD69C2F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19" name="footer-no">
            <a:extLst xmlns:a="http://schemas.openxmlformats.org/drawingml/2006/main">
              <a:ext uri="{FF2B5EF4-FFF2-40B4-BE49-F238E27FC236}">
                <a16:creationId xmlns:a16="http://schemas.microsoft.com/office/drawing/2014/main" id="{A618FBFC-4D70-43C6-B8E2-8B33579D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14412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B9585682-0BE3-4E9F-9808-C9BD2B2A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8057E5-4776-466A-815D-FA2EC767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结尾页给出结论和下一步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BAA0C54F-8F0B-4F93-969A-62A9B8B7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用一页总结实验完成情况、已验证能力、遗留问题和后续优化。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4062A1A2-160A-48EA-BCE8-8E02AF5C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191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85817924-5C8C-48C1-BB0A-41D747BF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text-0">
            <a:extLst xmlns:a="http://schemas.openxmlformats.org/drawingml/2006/main">
              <a:ext uri="{FF2B5EF4-FFF2-40B4-BE49-F238E27FC236}">
                <a16:creationId xmlns:a16="http://schemas.microsoft.com/office/drawing/2014/main" id="{96283D0E-9411-423E-B1A8-DDC0E46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525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6DE5A8FE-F95D-4542-B217-6C54317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本实验已完成：[填写完成内容]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85F90C83-95B1-4938-846E-0AD3F19D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text-1">
            <a:extLst xmlns:a="http://schemas.openxmlformats.org/drawingml/2006/main">
              <a:ext uri="{FF2B5EF4-FFF2-40B4-BE49-F238E27FC236}">
                <a16:creationId xmlns:a16="http://schemas.microsoft.com/office/drawing/2014/main" id="{8DD1B7F3-CADC-46FF-886A-A8CB2DD3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FD103FDF-0030-405E-8842-42F4DC1E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测试结果：[通过/部分通过/待修复]</a:t>
            </a:r>
          </a:p>
        </p:txBody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1B8F77C5-4298-430A-8E1D-FD7B276D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text-2">
            <a:extLst xmlns:a="http://schemas.openxmlformats.org/drawingml/2006/main">
              <a:ext uri="{FF2B5EF4-FFF2-40B4-BE49-F238E27FC236}">
                <a16:creationId xmlns:a16="http://schemas.microsoft.com/office/drawing/2014/main" id="{1474A1D6-F4CF-49E3-914F-082061E7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146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item-2">
            <a:extLst xmlns:a="http://schemas.openxmlformats.org/drawingml/2006/main">
              <a:ext uri="{FF2B5EF4-FFF2-40B4-BE49-F238E27FC236}">
                <a16:creationId xmlns:a16="http://schemas.microsoft.com/office/drawing/2014/main" id="{2A8C4788-A818-4FAD-8BCB-C4FEC49B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主要收获：[协议、设备、测试、工程规范]</a:t>
            </a:r>
          </a:p>
        </p:txBody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1FA33410-4585-4310-A513-46749662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text-3">
            <a:extLst xmlns:a="http://schemas.openxmlformats.org/drawingml/2006/main">
              <a:ext uri="{FF2B5EF4-FFF2-40B4-BE49-F238E27FC236}">
                <a16:creationId xmlns:a16="http://schemas.microsoft.com/office/drawing/2014/main" id="{9E78CD4A-0D81-4C76-9AB1-38D15941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957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item-3">
            <a:extLst xmlns:a="http://schemas.openxmlformats.org/drawingml/2006/main">
              <a:ext uri="{FF2B5EF4-FFF2-40B4-BE49-F238E27FC236}">
                <a16:creationId xmlns:a16="http://schemas.microsoft.com/office/drawing/2014/main" id="{5D90951A-0139-49FC-9F20-BF834EC6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后续工作：[真实链路、异常处理、性能测试]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69145A4-6C31-45A1-B591-AAE16A7B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4B601E-4D87-4CE7-A2AC-164AC7AC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物联网传输协议桥接组件开发</a:t>
            </a:r>
          </a:p>
        </p:txBody>
      </p:sp>
      <p:sp>
        <p:nvSpPr>
          <p:cNvPr id="19" name="footer-no">
            <a:extLst xmlns:a="http://schemas.openxmlformats.org/drawingml/2006/main">
              <a:ext uri="{FF2B5EF4-FFF2-40B4-BE49-F238E27FC236}">
                <a16:creationId xmlns:a16="http://schemas.microsoft.com/office/drawing/2014/main" id="{AB4C6871-8E77-4C0D-8B10-73E4E30D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4700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2026-07-05T14:26:12.6590000Z</dcterms:created>
  <dcterms:modified xsi:type="dcterms:W3CDTF">2026-07-05T14:26:12.6590000Z</dcterms:modified>
</coreProperties>
</file>